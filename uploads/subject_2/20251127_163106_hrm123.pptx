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96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19209" y="2333624"/>
            <a:ext cx="8962800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300"/>
              </a:spcAft>
            </a:pPr>
            <a:r>
              <a:rPr sz="4784" b="1" dirty="0">
                <a:solidFill>
                  <a:srgbClr val="FFFFFF"/>
                </a:solidFill>
              </a:rPr>
              <a:t>بەرەوپێشبردنی کارمەندان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6740" y="3431227"/>
            <a:ext cx="1898212" cy="4717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 dirty="0">
                <a:solidFill>
                  <a:srgbClr val="E0F7FA"/>
                </a:solidFill>
              </a:rPr>
              <a:t>پێشکەوتنی کارمەندان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43371" y="4181474"/>
            <a:ext cx="1904952" cy="5715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8EEDC7"/>
              </a:gs>
              <a:gs pos="100000">
                <a:srgbClr val="4DD0E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86102" y="5410199"/>
            <a:ext cx="1238219" cy="1066799"/>
          </a:xfrm>
          <a:prstGeom prst="roundRect">
            <a:avLst>
              <a:gd name="adj" fmla="val 21428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766" y="5632887"/>
            <a:ext cx="342891" cy="183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24221" y="5972175"/>
            <a:ext cx="761980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گەشەکردن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0064" y="5410199"/>
            <a:ext cx="1219169" cy="1066799"/>
          </a:xfrm>
          <a:prstGeom prst="roundRect">
            <a:avLst>
              <a:gd name="adj" fmla="val 21428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203" y="5591503"/>
            <a:ext cx="342891" cy="2660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48183" y="5972175"/>
            <a:ext cx="74293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پێشکەوتن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4977" y="5410199"/>
            <a:ext cx="1400139" cy="1066799"/>
          </a:xfrm>
          <a:prstGeom prst="roundRect">
            <a:avLst>
              <a:gd name="adj" fmla="val 21428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8839" y="5632887"/>
            <a:ext cx="342891" cy="183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53096" y="5972175"/>
            <a:ext cx="92390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بەشداریکردن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5772" y="4552949"/>
            <a:ext cx="1704932" cy="2019299"/>
          </a:xfrm>
          <a:prstGeom prst="roundRect">
            <a:avLst>
              <a:gd name="adj" fmla="val 13407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96267" y="4743450"/>
            <a:ext cx="132394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8EEDC7"/>
                </a:solidFill>
              </a:rPr>
              <a:t>ئامادەکراوە لەلایەن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96267" y="5219700"/>
            <a:ext cx="1323941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سەروین موسا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0069" y="5295901"/>
            <a:ext cx="152396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96267" y="5505450"/>
            <a:ext cx="1323941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هەورین جەعفەر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0069" y="5591400"/>
            <a:ext cx="152396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96267" y="5800725"/>
            <a:ext cx="1323941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سۆز عەبدولستار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0069" y="5881688"/>
            <a:ext cx="152396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96267" y="6086475"/>
            <a:ext cx="1323941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</a:rPr>
              <a:t> محمد ئیدریس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0069" y="6181724"/>
            <a:ext cx="152396" cy="1143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80990" y="5314950"/>
            <a:ext cx="2104972" cy="1257300"/>
          </a:xfrm>
          <a:prstGeom prst="roundRect">
            <a:avLst>
              <a:gd name="adj" fmla="val 1818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485" y="5505450"/>
            <a:ext cx="172398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8EEDC7"/>
                </a:solidFill>
              </a:rPr>
              <a:t>سەرپەرشتیکراوە لەلایەن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485" y="6034312"/>
            <a:ext cx="569323" cy="29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sz="1196" b="1" dirty="0">
                <a:solidFill>
                  <a:srgbClr val="FFFFFF"/>
                </a:solidFill>
              </a:rPr>
              <a:t>هەتاو</a:t>
            </a:r>
            <a:r>
              <a:rPr lang="en-US" sz="1196" b="1" dirty="0">
                <a:solidFill>
                  <a:srgbClr val="FFFFFF"/>
                </a:solidFill>
              </a:rPr>
              <a:t>.</a:t>
            </a:r>
            <a:r>
              <a:rPr lang="ar-IQ" sz="1196" b="1" dirty="0">
                <a:solidFill>
                  <a:srgbClr val="FFFFFF"/>
                </a:solidFill>
              </a:rPr>
              <a:t> م</a:t>
            </a:r>
            <a:endParaRPr sz="1196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809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 dirty="0">
                <a:solidFill>
                  <a:srgbClr val="FFFFFF"/>
                </a:solidFill>
              </a:rPr>
              <a:t>ناساندنی پێشکەوتنی کارمەندان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1142971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8EEDC7"/>
              </a:gs>
              <a:gs pos="100000">
                <a:srgbClr val="4DD0E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09644" y="1847849"/>
            <a:ext cx="9772405" cy="4600575"/>
          </a:xfrm>
          <a:prstGeom prst="roundRect">
            <a:avLst>
              <a:gd name="adj" fmla="val 662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9644" y="2934407"/>
            <a:ext cx="9772405" cy="24274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705"/>
              </a:lnSpc>
              <a:spcBef>
                <a:spcPts val="0"/>
              </a:spcBef>
              <a:spcAft>
                <a:spcPts val="0"/>
              </a:spcAft>
            </a:pPr>
            <a:r>
              <a:rPr sz="1913" b="0" dirty="0">
                <a:solidFill>
                  <a:srgbClr val="FFFFFF"/>
                </a:solidFill>
              </a:rPr>
              <a:t> </a:t>
            </a:r>
            <a:r>
              <a:rPr sz="1913" b="1" dirty="0">
                <a:solidFill>
                  <a:srgbClr val="FFFFFF"/>
                </a:solidFill>
              </a:rPr>
              <a:t>پێشکەوتنی کارمەند بریتییە لە پڕۆسەیەکی سیستەماتیک کە بەرزکردنەوەی </a:t>
            </a:r>
            <a:r>
              <a:rPr sz="1913" b="1" dirty="0">
                <a:solidFill>
                  <a:srgbClr val="8EEDC7"/>
                </a:solidFill>
              </a:rPr>
              <a:t>زانیاری</a:t>
            </a:r>
            <a:r>
              <a:rPr sz="1913" b="1" dirty="0">
                <a:solidFill>
                  <a:srgbClr val="FFFFFF"/>
                </a:solidFill>
              </a:rPr>
              <a:t> و </a:t>
            </a:r>
            <a:r>
              <a:rPr sz="1913" b="1" dirty="0">
                <a:solidFill>
                  <a:srgbClr val="8EEDC7"/>
                </a:solidFill>
              </a:rPr>
              <a:t>تواناکانی</a:t>
            </a:r>
            <a:r>
              <a:rPr sz="1913" b="1" dirty="0">
                <a:solidFill>
                  <a:srgbClr val="FFFFFF"/>
                </a:solidFill>
              </a:rPr>
              <a:t> کارمەندان لەخۆدەگرێت بۆ ئەوەی ببنەھۆی بەرزبوونەوەی بەرھەمھێنان و ڕێکخستنی کار و دڵخۆشی کارمەندان لە کارەکەیاندا</a:t>
            </a:r>
            <a:r>
              <a:rPr sz="1913" b="0" dirty="0">
                <a:solidFill>
                  <a:srgbClr val="FFFFFF"/>
                </a:solidFill>
              </a:rPr>
              <a:t>. </a:t>
            </a:r>
            <a:r>
              <a:rPr sz="1104" dirty="0"/>
              <a:t>
</a:t>
            </a:r>
            <a:r>
              <a:rPr sz="1104" b="1" dirty="0"/>
              <a:t>
</a:t>
            </a:r>
            <a:r>
              <a:rPr sz="1913" b="1" dirty="0">
                <a:solidFill>
                  <a:srgbClr val="FFFFFF"/>
                </a:solidFill>
              </a:rPr>
              <a:t> لە جیھانی ئەمڕۆدا، پێشکەوتنی کارمەند بووەتە پێویستێکی سەرەکی بۆ سەرکەوتنی ڕێکخراوەکان، ھەروەھا وەک فاکتەرێکی گرنگ لە ڕاکێشانی و ھێشتنەوەی بەھرە باشەکان</a:t>
            </a:r>
            <a:r>
              <a:rPr sz="1913" b="0" dirty="0">
                <a:solidFill>
                  <a:srgbClr val="FFFFFF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70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809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 dirty="0">
                <a:solidFill>
                  <a:srgbClr val="FFFFFF"/>
                </a:solidFill>
              </a:rPr>
              <a:t>خاڵی گرنگ هەن لەسەر بەرەوپێشبردنی کارمەندان: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1142971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8EEDC7"/>
              </a:gs>
              <a:gs pos="100000">
                <a:srgbClr val="4DD0E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24201" y="1847849"/>
            <a:ext cx="7600759" cy="723900"/>
          </a:xfrm>
          <a:prstGeom prst="roundRect">
            <a:avLst>
              <a:gd name="adj" fmla="val 421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05852" y="2114550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8EEDC7"/>
                </a:solidFill>
              </a:rPr>
              <a:t>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242" y="2067034"/>
            <a:ext cx="4083105" cy="34913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پێشکەشکردنی </a:t>
            </a:r>
            <a:r>
              <a:rPr sz="1400" b="1" dirty="0">
                <a:solidFill>
                  <a:srgbClr val="8EEDC7"/>
                </a:solidFill>
              </a:rPr>
              <a:t>کۆرس وفێربوون</a:t>
            </a:r>
            <a:r>
              <a:rPr sz="1400" b="0" dirty="0">
                <a:solidFill>
                  <a:srgbClr val="FFFFFF"/>
                </a:solidFill>
              </a:rPr>
              <a:t> بۆ زیادکردنی زانیاری و تواناکانیان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24201" y="2762249"/>
            <a:ext cx="7600759" cy="723900"/>
          </a:xfrm>
          <a:prstGeom prst="roundRect">
            <a:avLst>
              <a:gd name="adj" fmla="val 421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05852" y="2952750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8EEDC7"/>
                </a:solidFill>
              </a:rPr>
              <a:t>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4538" y="2887111"/>
            <a:ext cx="4031809" cy="34913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8EEDC7"/>
                </a:solidFill>
              </a:rPr>
              <a:t>پاداشتدان و ناساندن</a:t>
            </a:r>
            <a:r>
              <a:rPr sz="1196" b="0" dirty="0">
                <a:solidFill>
                  <a:srgbClr val="FFFFFF"/>
                </a:solidFill>
              </a:rPr>
              <a:t>ی کارمەندانی سەرکەوتوو بۆ هانگاوگرتن بەرەو </a:t>
            </a:r>
            <a:r>
              <a:rPr sz="1400" b="0" dirty="0">
                <a:solidFill>
                  <a:srgbClr val="FFFFFF"/>
                </a:solidFill>
              </a:rPr>
              <a:t>پێشچوون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24201" y="3676649"/>
            <a:ext cx="7600759" cy="952499"/>
          </a:xfrm>
          <a:prstGeom prst="roundRect">
            <a:avLst>
              <a:gd name="adj" fmla="val 32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05852" y="3981449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8EEDC7"/>
                </a:solidFill>
              </a:rPr>
              <a:t>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566" y="3800365"/>
            <a:ext cx="614347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FFFFFF"/>
                </a:solidFill>
              </a:rPr>
              <a:t>دروستکردنی </a:t>
            </a:r>
            <a:r>
              <a:rPr sz="1196" b="1" dirty="0">
                <a:solidFill>
                  <a:srgbClr val="8EEDC7"/>
                </a:solidFill>
              </a:rPr>
              <a:t>ژینگەیەکی خۆش و ئارام</a:t>
            </a:r>
            <a:r>
              <a:rPr sz="1196" b="0" dirty="0">
                <a:solidFill>
                  <a:srgbClr val="FFFFFF"/>
                </a:solidFill>
              </a:rPr>
              <a:t> لە شوێنی کار بۆ زیادکردنی دلخۆشی و هاندانیان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24201" y="4819650"/>
            <a:ext cx="7600759" cy="723900"/>
          </a:xfrm>
          <a:prstGeom prst="roundRect">
            <a:avLst>
              <a:gd name="adj" fmla="val 421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05852" y="5010149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8EEDC7"/>
                </a:solidFill>
              </a:rPr>
              <a:t>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7212" y="4960853"/>
            <a:ext cx="4099135" cy="34913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پێدانی </a:t>
            </a:r>
            <a:r>
              <a:rPr sz="1400" b="1" dirty="0">
                <a:solidFill>
                  <a:srgbClr val="8EEDC7"/>
                </a:solidFill>
              </a:rPr>
              <a:t>مۆڵەت و ئازادی</a:t>
            </a:r>
            <a:r>
              <a:rPr sz="1400" b="0" dirty="0">
                <a:solidFill>
                  <a:srgbClr val="FFFFFF"/>
                </a:solidFill>
              </a:rPr>
              <a:t> لە کار بۆ ئەوەی هەست بە بەرپرسیاریت بکەن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24201" y="5734050"/>
            <a:ext cx="7600759" cy="723900"/>
          </a:xfrm>
          <a:prstGeom prst="roundRect">
            <a:avLst>
              <a:gd name="adj" fmla="val 421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05852" y="5924549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8EEDC7"/>
                </a:solidFill>
              </a:rPr>
              <a:t>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0846" y="5907988"/>
            <a:ext cx="614347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8EEDC7"/>
                </a:solidFill>
              </a:rPr>
              <a:t>هاوپەیوەندی نێوان بەڕێوەبەر و کارمەند</a:t>
            </a:r>
            <a:r>
              <a:rPr sz="1196" b="0" dirty="0">
                <a:solidFill>
                  <a:srgbClr val="FFFFFF"/>
                </a:solidFill>
              </a:rPr>
              <a:t> بە پەیوەندیدان و گفتوگۆی ڕوون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335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71485" y="285750"/>
            <a:ext cx="6429214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 dirty="0">
                <a:solidFill>
                  <a:srgbClr val="FFFFFF"/>
                </a:solidFill>
              </a:rPr>
              <a:t>هۆکارە گرینگەکانی بەرەوپێشبردنی کارمەندان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485" y="949324"/>
            <a:ext cx="1142971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8EEDC7"/>
              </a:gs>
              <a:gs pos="100000">
                <a:srgbClr val="4DD0E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33" y="1123949"/>
            <a:ext cx="5429114" cy="1838324"/>
          </a:xfrm>
          <a:prstGeom prst="roundRect">
            <a:avLst>
              <a:gd name="adj" fmla="val 1658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2420" y="1276350"/>
            <a:ext cx="3047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0150" y="1266750"/>
            <a:ext cx="240023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بەرزکردنی ئاستی زانست و توانایی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565" y="1682093"/>
            <a:ext cx="5450466" cy="46987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170"/>
              </a:lnSpc>
              <a:spcAft>
                <a:spcPts val="390"/>
              </a:spcAft>
            </a:pPr>
            <a:r>
              <a:rPr lang="ar-IQ" sz="1000" b="1" dirty="0">
                <a:solidFill>
                  <a:srgbClr val="FFFFFF"/>
                </a:solidFill>
              </a:rPr>
              <a:t>بەرەوپێشبردن یارمەتیدەدات کارمەندان زانیاری و تواناکانیان زیاد بکەن بۆ ئەوەی کارەکانیان بە باشترین شێوە ئەنجام بدەن.</a:t>
            </a:r>
          </a:p>
          <a:p>
            <a:pPr>
              <a:lnSpc>
                <a:spcPts val="1170"/>
              </a:lnSpc>
              <a:spcAft>
                <a:spcPts val="390"/>
              </a:spcAft>
            </a:pPr>
            <a:r>
              <a:rPr lang="ar-IQ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>
                <a:solidFill>
                  <a:srgbClr val="FFFFFF"/>
                </a:solidFill>
              </a:rPr>
              <a:t>                            </a:t>
            </a:r>
            <a:r>
              <a:rPr lang="ar-IQ" sz="1000" b="1" dirty="0">
                <a:solidFill>
                  <a:srgbClr val="FFFFFF"/>
                </a:solidFill>
              </a:rPr>
              <a:t> </a:t>
            </a:r>
            <a:r>
              <a:rPr lang="ar-IQ" sz="1000" b="1" dirty="0">
                <a:solidFill>
                  <a:schemeClr val="bg1"/>
                </a:solidFill>
              </a:rPr>
              <a:t>فێربوون و ڕاهێنان ئەو توانایەی پێویست بە بازاڕی کارەیە دروست دەکات.</a:t>
            </a:r>
            <a:r>
              <a:rPr lang="en-US" sz="1000" b="1" dirty="0">
                <a:solidFill>
                  <a:schemeClr val="bg1"/>
                </a:solidFill>
              </a:rPr>
              <a:t>    </a:t>
            </a: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1095" y="1133475"/>
            <a:ext cx="5429114" cy="1838324"/>
          </a:xfrm>
          <a:prstGeom prst="roundRect">
            <a:avLst>
              <a:gd name="adj" fmla="val 1658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39179" y="1276350"/>
            <a:ext cx="3047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3791" y="1276350"/>
            <a:ext cx="218117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هاندانی ناوەکی و خۆبەڕێوەبەری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336" y="1601838"/>
            <a:ext cx="211141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پێشکەوتنی کارمەند </a:t>
            </a:r>
            <a:r>
              <a:rPr sz="1000" b="1" dirty="0">
                <a:solidFill>
                  <a:srgbClr val="8EEDC7"/>
                </a:solidFill>
              </a:rPr>
              <a:t>بەهای کاری</a:t>
            </a:r>
            <a:r>
              <a:rPr sz="1000" b="1" dirty="0">
                <a:solidFill>
                  <a:srgbClr val="FFFFFF"/>
                </a:solidFill>
              </a:rPr>
              <a:t> بەرز دەکاتەوە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7988" y="1790222"/>
            <a:ext cx="1885388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ڕێگەدەدات بە </a:t>
            </a:r>
            <a:r>
              <a:rPr sz="1000" b="1" dirty="0">
                <a:solidFill>
                  <a:srgbClr val="8EEDC7"/>
                </a:solidFill>
              </a:rPr>
              <a:t>خۆبەڕێوەبەری</a:t>
            </a:r>
            <a:r>
              <a:rPr sz="1000" b="1" dirty="0">
                <a:solidFill>
                  <a:srgbClr val="FFFFFF"/>
                </a:solidFill>
              </a:rPr>
              <a:t> و بڕیارەکان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8007" y="2009774"/>
            <a:ext cx="2036070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کارمەند </a:t>
            </a:r>
            <a:r>
              <a:rPr sz="1000" b="1" dirty="0">
                <a:solidFill>
                  <a:srgbClr val="8EEDC7"/>
                </a:solidFill>
              </a:rPr>
              <a:t>سەرنج و بەرپرسیارێتی</a:t>
            </a:r>
            <a:r>
              <a:rPr sz="1000" b="1" dirty="0">
                <a:solidFill>
                  <a:srgbClr val="FFFFFF"/>
                </a:solidFill>
              </a:rPr>
              <a:t> زیادتر دەبێت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485" y="3152775"/>
            <a:ext cx="5429114" cy="1609724"/>
          </a:xfrm>
          <a:prstGeom prst="roundRect">
            <a:avLst>
              <a:gd name="adj" fmla="val 1893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5219569" y="3305174"/>
            <a:ext cx="3047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389" y="3266892"/>
            <a:ext cx="261930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بەرزکردنی ئەنجامی کار و بەرهەمهێنان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3538" y="3637811"/>
            <a:ext cx="3296031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گەشەپێدانی کارمەندان ڕاستەوخۆ کاریگەری هەیە لەسەر </a:t>
            </a:r>
            <a:r>
              <a:rPr sz="1000" b="1" dirty="0">
                <a:solidFill>
                  <a:srgbClr val="8EEDC7"/>
                </a:solidFill>
              </a:rPr>
              <a:t>زیادکردنی کوالێتی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4959" y="3877679"/>
            <a:ext cx="327038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ئەوانی کە توانایان بەرزترە، کارەکانیان بە </a:t>
            </a:r>
            <a:r>
              <a:rPr sz="1000" b="1" dirty="0">
                <a:solidFill>
                  <a:srgbClr val="8EEDC7"/>
                </a:solidFill>
              </a:rPr>
              <a:t>خێراتر و بەرهەمتر</a:t>
            </a:r>
            <a:r>
              <a:rPr sz="1000" b="1" dirty="0">
                <a:solidFill>
                  <a:srgbClr val="FFFFFF"/>
                </a:solidFill>
              </a:rPr>
              <a:t> ئەنجام دەدەن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7" y="3160183"/>
            <a:ext cx="5429114" cy="1609724"/>
          </a:xfrm>
          <a:prstGeom prst="roundRect">
            <a:avLst>
              <a:gd name="adj" fmla="val 1893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0782030" y="3305174"/>
            <a:ext cx="3047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507" y="3285524"/>
            <a:ext cx="268598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دروستکردنی تیمێکی شارەزا و هاوکاری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0010" y="3637811"/>
            <a:ext cx="291772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بەرەوپێشبردن یارمەتیدەدات </a:t>
            </a:r>
            <a:r>
              <a:rPr sz="1000" b="1" dirty="0">
                <a:solidFill>
                  <a:srgbClr val="8EEDC7"/>
                </a:solidFill>
              </a:rPr>
              <a:t>هاوکاری و ڕێکخستنی تیم</a:t>
            </a:r>
            <a:r>
              <a:rPr sz="1000" b="1" dirty="0">
                <a:solidFill>
                  <a:srgbClr val="FFFFFF"/>
                </a:solidFill>
              </a:rPr>
              <a:t> زیاد بکرێت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859" y="3921548"/>
            <a:ext cx="2518575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تیمێکی </a:t>
            </a:r>
            <a:r>
              <a:rPr sz="1000" b="1" dirty="0">
                <a:solidFill>
                  <a:srgbClr val="8EEDC7"/>
                </a:solidFill>
              </a:rPr>
              <a:t>فێراو و بەهێز</a:t>
            </a:r>
            <a:r>
              <a:rPr sz="1000" b="1" dirty="0">
                <a:solidFill>
                  <a:srgbClr val="FFFFFF"/>
                </a:solidFill>
              </a:rPr>
              <a:t> دەتوانێت کۆمپانیا بەرەوپێش ببەیت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57468" y="4962525"/>
            <a:ext cx="5676758" cy="1609724"/>
          </a:xfrm>
          <a:prstGeom prst="roundRect">
            <a:avLst>
              <a:gd name="adj" fmla="val 1893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3196" y="5114925"/>
            <a:ext cx="3047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2336" y="5094717"/>
            <a:ext cx="344796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</a:rPr>
              <a:t>پەیوەستکردنی گەشەپێدان بە ئامانجی دامەزراندن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7056" y="5485290"/>
            <a:ext cx="440530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دامەزراندنەکان بە فێربوون و پەرەسەندنی کارمەندان دەست دەگەڕێن بەرەو </a:t>
            </a:r>
            <a:r>
              <a:rPr sz="1000" b="1" dirty="0">
                <a:solidFill>
                  <a:srgbClr val="8EEDC7"/>
                </a:solidFill>
              </a:rPr>
              <a:t>ئامانجی گەشەپێدانی خۆیان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0459" y="5705476"/>
            <a:ext cx="2827954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390"/>
              </a:spcAft>
            </a:pPr>
            <a:r>
              <a:rPr sz="1000" b="1" dirty="0">
                <a:solidFill>
                  <a:srgbClr val="FFFFFF"/>
                </a:solidFill>
              </a:rPr>
              <a:t>ئەمە </a:t>
            </a:r>
            <a:r>
              <a:rPr sz="1000" b="1" dirty="0">
                <a:solidFill>
                  <a:srgbClr val="8EEDC7"/>
                </a:solidFill>
              </a:rPr>
              <a:t>پەیوەندی بەهێز</a:t>
            </a:r>
            <a:r>
              <a:rPr sz="1000" b="1" dirty="0">
                <a:solidFill>
                  <a:srgbClr val="FFFFFF"/>
                </a:solidFill>
              </a:rPr>
              <a:t> دروست دەکات نێوان کارمەند و دامەزراندن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409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485" y="380999"/>
            <a:ext cx="11048723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95"/>
              </a:lnSpc>
              <a:spcBef>
                <a:spcPts val="0"/>
              </a:spcBef>
              <a:spcAft>
                <a:spcPts val="975"/>
              </a:spcAft>
            </a:pPr>
            <a:r>
              <a:rPr sz="2511" b="1" dirty="0">
                <a:solidFill>
                  <a:srgbClr val="FFFFFF"/>
                </a:solidFill>
              </a:rPr>
              <a:t>سودەکانی بەرەوپێشبردنی کارمەندان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81490" y="1123949"/>
            <a:ext cx="1428714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8EEDC7"/>
              </a:gs>
              <a:gs pos="100000">
                <a:srgbClr val="4DD0E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3921" y="1447800"/>
            <a:ext cx="9943851" cy="971550"/>
          </a:xfrm>
          <a:prstGeom prst="roundRect">
            <a:avLst>
              <a:gd name="adj" fmla="val 3137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58128" y="1743075"/>
            <a:ext cx="4762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8EEDC7"/>
                </a:solidFill>
              </a:rPr>
              <a:t>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9103" y="1695166"/>
            <a:ext cx="6200620" cy="3503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</a:rPr>
              <a:t>بەرزکردنی </a:t>
            </a:r>
            <a:r>
              <a:rPr sz="1435" b="1" dirty="0">
                <a:solidFill>
                  <a:srgbClr val="8EEDC7"/>
                </a:solidFill>
              </a:rPr>
              <a:t>بەرهەمێتی</a:t>
            </a:r>
            <a:r>
              <a:rPr sz="1435" b="1" dirty="0">
                <a:solidFill>
                  <a:srgbClr val="FFFFFF"/>
                </a:solidFill>
              </a:rPr>
              <a:t> و ئەنجامی کار لە ڕێگەی گەشەپێدانی زانیاری و تواناکانی کارمەندانەوە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3921" y="2609850"/>
            <a:ext cx="9943851" cy="971550"/>
          </a:xfrm>
          <a:prstGeom prst="roundRect">
            <a:avLst>
              <a:gd name="adj" fmla="val 3137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1930" y="2914650"/>
            <a:ext cx="4762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8EEDC7"/>
                </a:solidFill>
              </a:rPr>
              <a:t>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1578" y="2886076"/>
            <a:ext cx="8181770" cy="3503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</a:rPr>
              <a:t>کەمکردنەوەی </a:t>
            </a:r>
            <a:r>
              <a:rPr sz="1435" b="1" dirty="0">
                <a:solidFill>
                  <a:srgbClr val="8EEDC7"/>
                </a:solidFill>
              </a:rPr>
              <a:t>گۆڕانکاری</a:t>
            </a:r>
            <a:r>
              <a:rPr sz="1435" b="1" dirty="0">
                <a:solidFill>
                  <a:srgbClr val="FFFFFF"/>
                </a:solidFill>
              </a:rPr>
              <a:t> و هەڵگرتنی کارمەندان بە زیادکردنی دڵخۆشی و پابەندیان بۆ کۆمپانیا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3921" y="3781424"/>
            <a:ext cx="9943851" cy="971550"/>
          </a:xfrm>
          <a:prstGeom prst="roundRect">
            <a:avLst>
              <a:gd name="adj" fmla="val 3137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829553" y="4076699"/>
            <a:ext cx="4762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8EEDC7"/>
                </a:solidFill>
              </a:rPr>
              <a:t>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1578" y="4055534"/>
            <a:ext cx="6285282" cy="3503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</a:rPr>
              <a:t>زیادکردنی </a:t>
            </a:r>
            <a:r>
              <a:rPr sz="1435" b="1" dirty="0">
                <a:solidFill>
                  <a:srgbClr val="8EEDC7"/>
                </a:solidFill>
              </a:rPr>
              <a:t>نوێکاری</a:t>
            </a:r>
            <a:r>
              <a:rPr sz="1435" b="1" dirty="0">
                <a:solidFill>
                  <a:srgbClr val="FFFFFF"/>
                </a:solidFill>
              </a:rPr>
              <a:t> و بیرۆکەی نوێ لە ڕێگەی هاندانی خولیا و بیری دروستکردنی کارمەندانەوە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23921" y="4943475"/>
            <a:ext cx="9943851" cy="971550"/>
          </a:xfrm>
          <a:prstGeom prst="roundRect">
            <a:avLst>
              <a:gd name="adj" fmla="val 3137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1930" y="5238749"/>
            <a:ext cx="4762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8EEDC7"/>
                </a:solidFill>
              </a:rPr>
              <a:t>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0755" y="5191634"/>
            <a:ext cx="6311690" cy="35035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</a:rPr>
              <a:t>بەهێزکردنی </a:t>
            </a:r>
            <a:r>
              <a:rPr sz="1435" b="1" dirty="0">
                <a:solidFill>
                  <a:srgbClr val="8EEDC7"/>
                </a:solidFill>
              </a:rPr>
              <a:t>پەیوەندی</a:t>
            </a:r>
            <a:r>
              <a:rPr sz="1435" b="1" dirty="0">
                <a:solidFill>
                  <a:srgbClr val="FFFFFF"/>
                </a:solidFill>
              </a:rPr>
              <a:t> نێوان کارمەند و دامەزراندن لە ڕێگەی پێدانی مۆڵەت و ئازادی بۆ کارمەندانەوە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23921" y="6034619"/>
            <a:ext cx="9943851" cy="761999"/>
          </a:xfrm>
          <a:prstGeom prst="roundRect">
            <a:avLst>
              <a:gd name="adj" fmla="val 4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55746" y="6305550"/>
            <a:ext cx="4762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8EEDC7"/>
                </a:solidFill>
              </a:rPr>
              <a:t>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69" y="6293030"/>
            <a:ext cx="701022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</a:rPr>
              <a:t>بەرزکردنەوەی </a:t>
            </a:r>
            <a:r>
              <a:rPr sz="1435" b="1" dirty="0">
                <a:solidFill>
                  <a:srgbClr val="8EEDC7"/>
                </a:solidFill>
              </a:rPr>
              <a:t>ناوی براند</a:t>
            </a:r>
            <a:r>
              <a:rPr sz="1435" b="1" dirty="0">
                <a:solidFill>
                  <a:srgbClr val="FFFFFF"/>
                </a:solidFill>
              </a:rPr>
              <a:t> و ڕێزی کۆمپانیا لە بازاڕدا وەک کۆمپانیایەکی فێرەکار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310" y="7162800"/>
            <a:ext cx="501954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FFFFFF"/>
                </a:solidFill>
              </a:rPr>
              <a:t>"</a:t>
            </a:r>
            <a:r>
              <a:rPr sz="1196" b="0" dirty="0" err="1">
                <a:solidFill>
                  <a:srgbClr val="FFFFFF"/>
                </a:solidFill>
              </a:rPr>
              <a:t>سرمایهیترین</a:t>
            </a:r>
            <a:r>
              <a:rPr sz="1196" b="0" dirty="0">
                <a:solidFill>
                  <a:srgbClr val="FFFFFF"/>
                </a:solidFill>
              </a:rPr>
              <a:t> </a:t>
            </a:r>
            <a:r>
              <a:rPr sz="1196" b="0" dirty="0" err="1">
                <a:solidFill>
                  <a:srgbClr val="FFFFFF"/>
                </a:solidFill>
              </a:rPr>
              <a:t>سەرچاوەی</a:t>
            </a:r>
            <a:r>
              <a:rPr sz="1196" b="0" dirty="0">
                <a:solidFill>
                  <a:srgbClr val="FFFFFF"/>
                </a:solidFill>
              </a:rPr>
              <a:t> </a:t>
            </a:r>
            <a:r>
              <a:rPr sz="1196" b="0" dirty="0" err="1">
                <a:solidFill>
                  <a:srgbClr val="FFFFFF"/>
                </a:solidFill>
              </a:rPr>
              <a:t>هەر</a:t>
            </a:r>
            <a:r>
              <a:rPr sz="1196" b="0" dirty="0">
                <a:solidFill>
                  <a:srgbClr val="FFFFFF"/>
                </a:solidFill>
              </a:rPr>
              <a:t> </a:t>
            </a:r>
            <a:r>
              <a:rPr sz="1196" b="0" dirty="0" err="1">
                <a:solidFill>
                  <a:srgbClr val="FFFFFF"/>
                </a:solidFill>
              </a:rPr>
              <a:t>کۆمپانیایەک</a:t>
            </a:r>
            <a:r>
              <a:rPr sz="1196" b="0" dirty="0">
                <a:solidFill>
                  <a:srgbClr val="FFFFFF"/>
                </a:solidFill>
              </a:rPr>
              <a:t> کارمەندانی </a:t>
            </a:r>
            <a:r>
              <a:rPr sz="1196" b="0" dirty="0" err="1">
                <a:solidFill>
                  <a:srgbClr val="FFFFFF"/>
                </a:solidFill>
              </a:rPr>
              <a:t>گەشەپێدراون</a:t>
            </a:r>
            <a:r>
              <a:rPr sz="1196" b="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1310" y="7486650"/>
            <a:ext cx="501954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325"/>
              </a:spcBef>
              <a:spcAft>
                <a:spcPts val="0"/>
              </a:spcAft>
            </a:pPr>
            <a:r>
              <a:rPr sz="1076" b="1">
                <a:solidFill>
                  <a:srgbClr val="8EEDC7"/>
                </a:solidFill>
              </a:rPr>
              <a:t>— بیل گەیتس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-1905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95"/>
              </a:lnSpc>
              <a:spcBef>
                <a:spcPts val="0"/>
              </a:spcBef>
              <a:spcAft>
                <a:spcPts val="975"/>
              </a:spcAft>
            </a:pPr>
            <a:r>
              <a:rPr sz="2511" b="1" dirty="0">
                <a:solidFill>
                  <a:srgbClr val="FFFFFF"/>
                </a:solidFill>
              </a:rPr>
              <a:t>سەرچاوەکانی زانیاری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81490" y="1123949"/>
            <a:ext cx="1428714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8EEDC7"/>
              </a:gs>
              <a:gs pos="100000">
                <a:srgbClr val="4DD0E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09704" y="1543050"/>
            <a:ext cx="8572285" cy="1343025"/>
          </a:xfrm>
          <a:prstGeom prst="roundRect">
            <a:avLst>
              <a:gd name="adj" fmla="val 2269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0464" y="1781174"/>
            <a:ext cx="3428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5066" y="1752599"/>
            <a:ext cx="2314517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بەرزکردنی بەرهەمێتی و قازانج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447" y="2190749"/>
            <a:ext cx="800079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</a:rPr>
              <a:t> توێژینەوەی </a:t>
            </a:r>
            <a:r>
              <a:rPr sz="956" b="1" dirty="0">
                <a:solidFill>
                  <a:srgbClr val="8EEDC7"/>
                </a:solidFill>
              </a:rPr>
              <a:t>هاڤارد بزنس سکوول</a:t>
            </a:r>
            <a:r>
              <a:rPr sz="956" b="0" dirty="0">
                <a:solidFill>
                  <a:srgbClr val="FFFFFF"/>
                </a:solidFill>
              </a:rPr>
              <a:t> پیشانی دەدات کە کۆمپانیاکان ١٧٪ زیادبوون لە بەرهەمێتی و ٢١٪ زیادبوون لە قازانجدا ئەزموون دەکات کاتێ کارمەندان فێرکاری ڕاستەوخۆ وەردەگرن.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9704" y="3171825"/>
            <a:ext cx="8572285" cy="1343025"/>
          </a:xfrm>
          <a:prstGeom prst="roundRect">
            <a:avLst>
              <a:gd name="adj" fmla="val 2269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381890" y="3409950"/>
            <a:ext cx="3428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9738" y="3364804"/>
            <a:ext cx="3571785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کاریگەری گەشەپێدان لەسەر پێکەوتنی کارمەند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447" y="3819524"/>
            <a:ext cx="800079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</a:rPr>
              <a:t> لە توێژینەوەیەکی </a:t>
            </a:r>
            <a:r>
              <a:rPr sz="956" b="1" dirty="0">
                <a:solidFill>
                  <a:srgbClr val="8EEDC7"/>
                </a:solidFill>
              </a:rPr>
              <a:t>سیستمیاتیک</a:t>
            </a:r>
            <a:r>
              <a:rPr sz="956" b="0" dirty="0">
                <a:solidFill>
                  <a:srgbClr val="FFFFFF"/>
                </a:solidFill>
              </a:rPr>
              <a:t>دا کە لە ساڵی ٢٠٢٣ بڵاو کراوە، دەرکەوتووە کە فێرکاری و گەشەپێدانی پیشەیی کاریگەری ڕاستەوخۆی هەیە لەسەر پاراستنی کارمەندان لە دامەزراندنەکەیان.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9704" y="4800600"/>
            <a:ext cx="8572285" cy="1343025"/>
          </a:xfrm>
          <a:prstGeom prst="roundRect">
            <a:avLst>
              <a:gd name="adj" fmla="val 2269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4741" y="5038724"/>
            <a:ext cx="3428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EEDC7"/>
                </a:solidFill>
              </a:rPr>
              <a:t>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2940" y="5000626"/>
            <a:ext cx="258121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کولتوری گەشەپێدان و پێشکەوتن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2676" y="5448300"/>
            <a:ext cx="800079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</a:rPr>
              <a:t> توێژینەوەکانی </a:t>
            </a:r>
            <a:r>
              <a:rPr sz="956" b="1" dirty="0">
                <a:solidFill>
                  <a:srgbClr val="8EEDC7"/>
                </a:solidFill>
              </a:rPr>
              <a:t>گالوپ</a:t>
            </a:r>
            <a:r>
              <a:rPr sz="956" b="0" dirty="0">
                <a:solidFill>
                  <a:srgbClr val="FFFFFF"/>
                </a:solidFill>
              </a:rPr>
              <a:t> پیشانی دەدەن کە کولتوریەکی بەرز لە گەشەپێدانی کارمەنداندا دەبێتە </a:t>
            </a:r>
            <a:r>
              <a:rPr sz="956" b="0" dirty="0" err="1">
                <a:solidFill>
                  <a:srgbClr val="FFFFFF"/>
                </a:solidFill>
              </a:rPr>
              <a:t>هۆی</a:t>
            </a:r>
            <a:r>
              <a:rPr sz="956" b="0" dirty="0">
                <a:solidFill>
                  <a:srgbClr val="FFFFFF"/>
                </a:solidFill>
              </a:rPr>
              <a:t> بەرزبوونی پێکەوتن، قازانج، و پاراستنی کارمەندان لە کۆمپانیاکاندا.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" y="6329362"/>
            <a:ext cx="10858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FFFFFF"/>
                </a:solidFill>
              </a:rPr>
              <a:t>سوپاس بۆ سەرنجدان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465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felix 9</dc:creator>
  <cp:keywords/>
  <dc:description>generated using python-pptx</dc:description>
  <cp:lastModifiedBy>Mazyar Kamaran</cp:lastModifiedBy>
  <cp:revision>5</cp:revision>
  <dcterms:created xsi:type="dcterms:W3CDTF">2013-01-27T09:14:16Z</dcterms:created>
  <dcterms:modified xsi:type="dcterms:W3CDTF">2025-11-27T05:36:38Z</dcterms:modified>
  <cp:category/>
</cp:coreProperties>
</file>